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403" r:id="rId2"/>
    <p:sldId id="548" r:id="rId3"/>
    <p:sldId id="547" r:id="rId4"/>
    <p:sldId id="503" r:id="rId5"/>
    <p:sldId id="256" r:id="rId6"/>
    <p:sldId id="257" r:id="rId7"/>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9" userDrawn="1">
          <p15:clr>
            <a:srgbClr val="A4A3A4"/>
          </p15:clr>
        </p15:guide>
        <p15:guide id="2" pos="382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09" d="100"/>
          <a:sy n="109" d="100"/>
        </p:scale>
        <p:origin x="120" y="144"/>
      </p:cViewPr>
      <p:guideLst>
        <p:guide orient="horz" pos="2149"/>
        <p:guide pos="382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B85381-A273-456F-B255-09220F1FD2E8}" type="datetimeFigureOut">
              <a:rPr lang="zh-CN" altLang="en-US" smtClean="0"/>
              <a:t>2024/10/8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AFC10-47A1-4756-B53D-AFD2C2827FDD}" type="slidenum">
              <a:rPr lang="zh-CN" altLang="en-US" smtClean="0"/>
              <a:t>‹#›</a:t>
            </a:fld>
            <a:endParaRPr lang="zh-CN" altLang="en-US"/>
          </a:p>
        </p:txBody>
      </p:sp>
    </p:spTree>
    <p:extLst>
      <p:ext uri="{BB962C8B-B14F-4D97-AF65-F5344CB8AC3E}">
        <p14:creationId xmlns:p14="http://schemas.microsoft.com/office/powerpoint/2010/main" val="4230018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685A9-532A-4B38-8639-12A7FE0A8F5A}"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685A9-532A-4B38-8639-12A7FE0A8F5A}" type="slidenum">
              <a:rPr lang="zh-CN" altLang="en-US" smtClean="0">
                <a:solidFill>
                  <a:prstClr val="black"/>
                </a:solidFill>
              </a:rPr>
              <a:t>2</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685A9-532A-4B38-8639-12A7FE0A8F5A}" type="slidenum">
              <a:rPr lang="zh-CN" altLang="en-US" smtClean="0">
                <a:solidFill>
                  <a:prstClr val="black"/>
                </a:solidFill>
              </a:rPr>
              <a:t>3</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685A9-532A-4B38-8639-12A7FE0A8F5A}" type="slidenum">
              <a:rPr lang="zh-CN" altLang="en-US" smtClean="0">
                <a:solidFill>
                  <a:prstClr val="black"/>
                </a:solidFill>
              </a:rPr>
              <a:t>4</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2024/10/8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2024/10/8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2024/10/8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2024/10/8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2024/10/8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2024/10/8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2024/10/8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2024/10/8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2024/10/8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2024/10/8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2024/10/8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灯片编号占位符 5"/>
          <p:cNvSpPr>
            <a:spLocks noGrp="1" noChangeArrowheads="1"/>
          </p:cNvSpPr>
          <p:nvPr>
            <p:ph type="sldNum" sz="quarter" idx="12"/>
          </p:nvPr>
        </p:nvSpPr>
        <p:spPr>
          <a:xfrm>
            <a:off x="9264000" y="6432008"/>
            <a:ext cx="2844800" cy="365125"/>
          </a:xfrm>
          <a:prstGeom prst="rect">
            <a:avLst/>
          </a:prstGeom>
        </p:spPr>
        <p:txBody>
          <a:bodyPr/>
          <a:lstStyle>
            <a:lvl1pPr algn="r">
              <a:defRPr sz="2000" b="1">
                <a:solidFill>
                  <a:schemeClr val="tx1"/>
                </a:solidFill>
                <a:latin typeface="微软雅黑" panose="020B0503020204020204" pitchFamily="34" charset="-122"/>
                <a:ea typeface="微软雅黑" panose="020B0503020204020204" pitchFamily="34" charset="-122"/>
              </a:defRPr>
            </a:lvl1pPr>
          </a:lstStyle>
          <a:p>
            <a:pPr>
              <a:defRPr/>
            </a:pPr>
            <a:fld id="{8047563A-AF2E-4E35-B657-DFEFFFDF709B}" type="slidenum">
              <a:rPr lang="zh-CN" altLang="en-US" smtClean="0">
                <a:solidFill>
                  <a:prstClr val="black"/>
                </a:solidFill>
              </a:rPr>
              <a:t>‹#›</a:t>
            </a:fld>
            <a:endParaRPr lang="en-US" altLang="zh-CN" dirty="0">
              <a:solidFill>
                <a:prstClr val="black"/>
              </a:solidFill>
            </a:endParaRPr>
          </a:p>
        </p:txBody>
      </p:sp>
    </p:spTree>
    <p:extLst>
      <p:ext uri="{BB962C8B-B14F-4D97-AF65-F5344CB8AC3E}">
        <p14:creationId xmlns:p14="http://schemas.microsoft.com/office/powerpoint/2010/main" val="4217586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2024/10/8</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64.xml"/><Relationship Id="rId5" Type="http://schemas.openxmlformats.org/officeDocument/2006/relationships/image" Target="../media/image14.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78205" y="131445"/>
            <a:ext cx="7776210" cy="1143000"/>
          </a:xfrm>
        </p:spPr>
        <p:txBody>
          <a:bodyPr/>
          <a:lstStyle/>
          <a:p>
            <a:r>
              <a:rPr lang="zh-CN" altLang="en-US" sz="3600" dirty="0">
                <a:solidFill>
                  <a:schemeClr val="tx1"/>
                </a:solidFill>
                <a:sym typeface="+mn-ea"/>
              </a:rPr>
              <a:t>常用全参考算法</a:t>
            </a:r>
            <a:endParaRPr lang="zh-CN" altLang="en-US" sz="3600" b="1" dirty="0">
              <a:solidFill>
                <a:schemeClr val="tx1"/>
              </a:solidFill>
            </a:endParaRPr>
          </a:p>
        </p:txBody>
      </p:sp>
      <p:sp>
        <p:nvSpPr>
          <p:cNvPr id="4" name="文本框 3"/>
          <p:cNvSpPr txBox="1"/>
          <p:nvPr/>
        </p:nvSpPr>
        <p:spPr>
          <a:xfrm>
            <a:off x="123190" y="980440"/>
            <a:ext cx="12056745" cy="4523105"/>
          </a:xfrm>
          <a:prstGeom prst="rect">
            <a:avLst/>
          </a:prstGeom>
          <a:noFill/>
        </p:spPr>
        <p:txBody>
          <a:bodyPr wrap="square" rtlCol="0">
            <a:spAutoFit/>
          </a:bodyPr>
          <a:lstStyle/>
          <a:p>
            <a:pPr>
              <a:lnSpc>
                <a:spcPct val="150000"/>
              </a:lnSpc>
            </a:pPr>
            <a:r>
              <a:rPr lang="zh-CN" altLang="en-US" sz="2400" dirty="0"/>
              <a:t>峰值信噪比（Peak signal-to-noise ratio，PSNR）</a:t>
            </a:r>
          </a:p>
          <a:p>
            <a:pPr marL="342900" indent="-342900">
              <a:lnSpc>
                <a:spcPct val="150000"/>
              </a:lnSpc>
              <a:buFont typeface="Arial" panose="020B0604020202020204" pitchFamily="34" charset="0"/>
              <a:buChar char="•"/>
            </a:pPr>
            <a:r>
              <a:rPr lang="zh-CN" altLang="en-US" sz="2400" dirty="0"/>
              <a:t>用于衡量经过压缩或处理后的图像或信号的质量与原始图像或信号的差异</a:t>
            </a:r>
          </a:p>
          <a:p>
            <a:pPr marL="342900" indent="-342900">
              <a:lnSpc>
                <a:spcPct val="150000"/>
              </a:lnSpc>
              <a:buFont typeface="Arial" panose="020B0604020202020204" pitchFamily="34" charset="0"/>
              <a:buChar char="•"/>
            </a:pPr>
            <a:r>
              <a:rPr lang="zh-CN" altLang="en-US" sz="2400" dirty="0"/>
              <a:t>通常以分贝（dB）为单位，数值越高，表示图像或信号的质量越接近原始图像或信号</a:t>
            </a:r>
          </a:p>
          <a:p>
            <a:pPr marL="342900" indent="-342900">
              <a:lnSpc>
                <a:spcPct val="150000"/>
              </a:lnSpc>
              <a:buFont typeface="Arial" panose="020B0604020202020204" pitchFamily="34" charset="0"/>
              <a:buChar char="•"/>
            </a:pPr>
            <a:endParaRPr lang="zh-CN" altLang="en-US" sz="2400" dirty="0"/>
          </a:p>
          <a:p>
            <a:pPr indent="0">
              <a:lnSpc>
                <a:spcPct val="150000"/>
              </a:lnSpc>
              <a:buFont typeface="Arial" panose="020B0604020202020204" pitchFamily="34" charset="0"/>
              <a:buNone/>
            </a:pPr>
            <a:r>
              <a:rPr lang="zh-CN" altLang="en-US" sz="2400" dirty="0"/>
              <a:t>计算步骤：</a:t>
            </a:r>
          </a:p>
          <a:p>
            <a:pPr marL="457200" indent="-457200">
              <a:lnSpc>
                <a:spcPct val="150000"/>
              </a:lnSpc>
              <a:buFont typeface="Arial" panose="020B0604020202020204" pitchFamily="34" charset="0"/>
              <a:buAutoNum type="arabicPeriod"/>
            </a:pPr>
            <a:r>
              <a:rPr lang="en-US" altLang="zh-CN" sz="2400" dirty="0" err="1"/>
              <a:t>计算均方误差（MSE</a:t>
            </a:r>
            <a:r>
              <a:rPr lang="en-US" altLang="zh-CN" sz="2400" dirty="0"/>
              <a:t>）</a:t>
            </a:r>
          </a:p>
          <a:p>
            <a:pPr marL="457200" indent="-457200">
              <a:lnSpc>
                <a:spcPct val="150000"/>
              </a:lnSpc>
              <a:buFont typeface="Arial" panose="020B0604020202020204" pitchFamily="34" charset="0"/>
              <a:buAutoNum type="arabicPeriod"/>
            </a:pPr>
            <a:r>
              <a:rPr lang="en-US" altLang="zh-CN" sz="2400" dirty="0" err="1"/>
              <a:t>计算PSNR</a:t>
            </a:r>
            <a:endParaRPr lang="en-US" altLang="zh-CN" sz="2400" dirty="0"/>
          </a:p>
          <a:p>
            <a:pPr marL="800100" lvl="1" indent="-342900">
              <a:lnSpc>
                <a:spcPct val="150000"/>
              </a:lnSpc>
              <a:buFont typeface="Arial" panose="020B0604020202020204" pitchFamily="34" charset="0"/>
              <a:buChar char="•"/>
            </a:pPr>
            <a:r>
              <a:rPr lang="en-US" altLang="zh-CN" sz="2400" dirty="0"/>
              <a:t>MAX</a:t>
            </a:r>
            <a:r>
              <a:rPr lang="zh-CN" altLang="en-US" sz="2400" dirty="0"/>
              <a:t>表示图像点颜色的最大数值，如果每个采样点用 8 位表示，那么就是 255</a:t>
            </a:r>
          </a:p>
        </p:txBody>
      </p:sp>
      <p:pic>
        <p:nvPicPr>
          <p:cNvPr id="6" name="图片 5"/>
          <p:cNvPicPr>
            <a:picLocks noChangeAspect="1"/>
          </p:cNvPicPr>
          <p:nvPr/>
        </p:nvPicPr>
        <p:blipFill>
          <a:blip r:embed="rId3"/>
          <a:srcRect l="10246" r="7735"/>
          <a:stretch>
            <a:fillRect/>
          </a:stretch>
        </p:blipFill>
        <p:spPr>
          <a:xfrm>
            <a:off x="4295775" y="3212465"/>
            <a:ext cx="5184775" cy="1490345"/>
          </a:xfrm>
          <a:prstGeom prst="rect">
            <a:avLst/>
          </a:prstGeom>
        </p:spPr>
      </p:pic>
      <p:pic>
        <p:nvPicPr>
          <p:cNvPr id="7" name="图片 6"/>
          <p:cNvPicPr>
            <a:picLocks noChangeAspect="1"/>
          </p:cNvPicPr>
          <p:nvPr/>
        </p:nvPicPr>
        <p:blipFill>
          <a:blip r:embed="rId4"/>
          <a:stretch>
            <a:fillRect/>
          </a:stretch>
        </p:blipFill>
        <p:spPr>
          <a:xfrm>
            <a:off x="695325" y="5661025"/>
            <a:ext cx="5992495" cy="8597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78205" y="131445"/>
            <a:ext cx="7776210" cy="1143000"/>
          </a:xfrm>
        </p:spPr>
        <p:txBody>
          <a:bodyPr/>
          <a:lstStyle/>
          <a:p>
            <a:r>
              <a:rPr lang="zh-CN" altLang="en-US" sz="3600" dirty="0">
                <a:solidFill>
                  <a:schemeClr val="tx1"/>
                </a:solidFill>
                <a:sym typeface="+mn-ea"/>
              </a:rPr>
              <a:t>常用全参考算法</a:t>
            </a:r>
            <a:endParaRPr lang="zh-CN" altLang="en-US" sz="3600" b="1" dirty="0">
              <a:solidFill>
                <a:schemeClr val="tx1"/>
              </a:solidFill>
            </a:endParaRPr>
          </a:p>
        </p:txBody>
      </p:sp>
      <p:sp>
        <p:nvSpPr>
          <p:cNvPr id="4" name="文本框 3"/>
          <p:cNvSpPr txBox="1"/>
          <p:nvPr/>
        </p:nvSpPr>
        <p:spPr>
          <a:xfrm>
            <a:off x="123190" y="980440"/>
            <a:ext cx="12056745" cy="645160"/>
          </a:xfrm>
          <a:prstGeom prst="rect">
            <a:avLst/>
          </a:prstGeom>
          <a:noFill/>
        </p:spPr>
        <p:txBody>
          <a:bodyPr wrap="square" rtlCol="0">
            <a:spAutoFit/>
          </a:bodyPr>
          <a:lstStyle/>
          <a:p>
            <a:pPr>
              <a:lnSpc>
                <a:spcPct val="150000"/>
              </a:lnSpc>
            </a:pPr>
            <a:r>
              <a:rPr lang="en-US" altLang="zh-CN" sz="2400"/>
              <a:t>PSNR</a:t>
            </a:r>
            <a:r>
              <a:rPr lang="zh-CN" altLang="en-US" sz="2400"/>
              <a:t>存在什么问题？</a:t>
            </a:r>
          </a:p>
        </p:txBody>
      </p:sp>
      <p:pic>
        <p:nvPicPr>
          <p:cNvPr id="6" name="图片 5"/>
          <p:cNvPicPr>
            <a:picLocks noChangeAspect="1"/>
          </p:cNvPicPr>
          <p:nvPr/>
        </p:nvPicPr>
        <p:blipFill>
          <a:blip r:embed="rId3"/>
          <a:srcRect l="10246" r="7735"/>
          <a:stretch>
            <a:fillRect/>
          </a:stretch>
        </p:blipFill>
        <p:spPr>
          <a:xfrm>
            <a:off x="123190" y="1772920"/>
            <a:ext cx="5184775" cy="1490345"/>
          </a:xfrm>
          <a:prstGeom prst="rect">
            <a:avLst/>
          </a:prstGeom>
        </p:spPr>
      </p:pic>
      <p:sp>
        <p:nvSpPr>
          <p:cNvPr id="3" name="矩形 2"/>
          <p:cNvSpPr/>
          <p:nvPr/>
        </p:nvSpPr>
        <p:spPr>
          <a:xfrm>
            <a:off x="2927985" y="2348865"/>
            <a:ext cx="2069465" cy="50355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cxnSp>
        <p:nvCxnSpPr>
          <p:cNvPr id="5" name="直接箭头连接符 4"/>
          <p:cNvCxnSpPr/>
          <p:nvPr/>
        </p:nvCxnSpPr>
        <p:spPr>
          <a:xfrm flipH="1">
            <a:off x="3791585" y="2950210"/>
            <a:ext cx="76200" cy="9575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27760" y="4004945"/>
            <a:ext cx="3968115" cy="1198880"/>
          </a:xfrm>
          <a:prstGeom prst="rect">
            <a:avLst/>
          </a:prstGeom>
          <a:noFill/>
        </p:spPr>
        <p:txBody>
          <a:bodyPr wrap="square" rtlCol="0">
            <a:spAutoFit/>
          </a:bodyPr>
          <a:lstStyle/>
          <a:p>
            <a:pPr>
              <a:lnSpc>
                <a:spcPct val="150000"/>
              </a:lnSpc>
            </a:pPr>
            <a:r>
              <a:rPr lang="zh-CN" altLang="en-US" sz="2400"/>
              <a:t>只考虑失真图像和参考图像</a:t>
            </a:r>
          </a:p>
          <a:p>
            <a:pPr>
              <a:lnSpc>
                <a:spcPct val="150000"/>
              </a:lnSpc>
            </a:pPr>
            <a:r>
              <a:rPr lang="zh-CN" altLang="en-US" sz="2400"/>
              <a:t>像素点与像素点之间的差异</a:t>
            </a:r>
          </a:p>
        </p:txBody>
      </p:sp>
      <p:pic>
        <p:nvPicPr>
          <p:cNvPr id="15" name="图片 14" descr="1600"/>
          <p:cNvPicPr>
            <a:picLocks noChangeAspect="1"/>
          </p:cNvPicPr>
          <p:nvPr/>
        </p:nvPicPr>
        <p:blipFill>
          <a:blip r:embed="rId4"/>
          <a:stretch>
            <a:fillRect/>
          </a:stretch>
        </p:blipFill>
        <p:spPr>
          <a:xfrm>
            <a:off x="6240145" y="1700530"/>
            <a:ext cx="2134870" cy="2134870"/>
          </a:xfrm>
          <a:prstGeom prst="rect">
            <a:avLst/>
          </a:prstGeom>
        </p:spPr>
      </p:pic>
      <p:pic>
        <p:nvPicPr>
          <p:cNvPr id="18" name="图片 17" descr="1600.BLUR.5"/>
          <p:cNvPicPr>
            <a:picLocks noChangeAspect="1"/>
          </p:cNvPicPr>
          <p:nvPr/>
        </p:nvPicPr>
        <p:blipFill>
          <a:blip r:embed="rId5"/>
          <a:stretch>
            <a:fillRect/>
          </a:stretch>
        </p:blipFill>
        <p:spPr>
          <a:xfrm>
            <a:off x="8484870" y="1683385"/>
            <a:ext cx="2152015" cy="2152015"/>
          </a:xfrm>
          <a:prstGeom prst="rect">
            <a:avLst/>
          </a:prstGeom>
        </p:spPr>
      </p:pic>
      <p:sp>
        <p:nvSpPr>
          <p:cNvPr id="21" name="文本框 20"/>
          <p:cNvSpPr txBox="1"/>
          <p:nvPr/>
        </p:nvSpPr>
        <p:spPr>
          <a:xfrm>
            <a:off x="6252210" y="3835400"/>
            <a:ext cx="2122805" cy="368300"/>
          </a:xfrm>
          <a:prstGeom prst="rect">
            <a:avLst/>
          </a:prstGeom>
          <a:noFill/>
        </p:spPr>
        <p:txBody>
          <a:bodyPr wrap="square" rtlCol="0">
            <a:spAutoFit/>
          </a:bodyPr>
          <a:lstStyle/>
          <a:p>
            <a:pPr algn="ctr"/>
            <a:r>
              <a:rPr lang="zh-CN" altLang="en-US"/>
              <a:t>参考图像</a:t>
            </a:r>
          </a:p>
        </p:txBody>
      </p:sp>
      <p:sp>
        <p:nvSpPr>
          <p:cNvPr id="22" name="文本框 21"/>
          <p:cNvSpPr txBox="1"/>
          <p:nvPr/>
        </p:nvSpPr>
        <p:spPr>
          <a:xfrm>
            <a:off x="8484870" y="3839845"/>
            <a:ext cx="2152015" cy="368300"/>
          </a:xfrm>
          <a:prstGeom prst="rect">
            <a:avLst/>
          </a:prstGeom>
          <a:noFill/>
        </p:spPr>
        <p:txBody>
          <a:bodyPr wrap="square" rtlCol="0">
            <a:spAutoFit/>
          </a:bodyPr>
          <a:lstStyle/>
          <a:p>
            <a:pPr algn="ctr"/>
            <a:r>
              <a:rPr lang="zh-CN" altLang="en-US"/>
              <a:t>待评估失真图像</a:t>
            </a:r>
          </a:p>
        </p:txBody>
      </p:sp>
      <p:sp>
        <p:nvSpPr>
          <p:cNvPr id="9" name="矩形 8"/>
          <p:cNvSpPr/>
          <p:nvPr/>
        </p:nvSpPr>
        <p:spPr>
          <a:xfrm>
            <a:off x="7464425" y="1772920"/>
            <a:ext cx="76200" cy="9715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1" name="矩形 10"/>
          <p:cNvSpPr/>
          <p:nvPr/>
        </p:nvSpPr>
        <p:spPr>
          <a:xfrm>
            <a:off x="9912350" y="1772920"/>
            <a:ext cx="76200" cy="97155"/>
          </a:xfrm>
          <a:prstGeom prst="rect">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cxnSp>
        <p:nvCxnSpPr>
          <p:cNvPr id="12" name="直接箭头连接符 11"/>
          <p:cNvCxnSpPr/>
          <p:nvPr/>
        </p:nvCxnSpPr>
        <p:spPr>
          <a:xfrm flipV="1">
            <a:off x="7536180" y="1450340"/>
            <a:ext cx="427990" cy="2159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flipH="1" flipV="1">
            <a:off x="9336405" y="1412875"/>
            <a:ext cx="575945" cy="240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7176135" y="1047750"/>
            <a:ext cx="3392805" cy="368300"/>
          </a:xfrm>
          <a:prstGeom prst="rect">
            <a:avLst/>
          </a:prstGeom>
          <a:noFill/>
        </p:spPr>
        <p:txBody>
          <a:bodyPr wrap="square" rtlCol="0">
            <a:spAutoFit/>
          </a:bodyPr>
          <a:lstStyle/>
          <a:p>
            <a:pPr algn="ctr"/>
            <a:r>
              <a:rPr lang="zh-CN" altLang="en-US"/>
              <a:t>人类评估时，不会如此细致比较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8" grpId="0"/>
      <p:bldP spid="8" grpId="1"/>
      <p:bldP spid="21" grpId="0"/>
      <p:bldP spid="21" grpId="1"/>
      <p:bldP spid="22" grpId="0"/>
      <p:bldP spid="22" grpId="1"/>
      <p:bldP spid="9" grpId="0" animBg="1"/>
      <p:bldP spid="9" grpId="1" animBg="1"/>
      <p:bldP spid="11" grpId="0" animBg="1"/>
      <p:bldP spid="11" grpId="1" animBg="1"/>
      <p:bldP spid="14" grpId="0"/>
      <p:bldP spid="1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78205" y="131445"/>
            <a:ext cx="7776210" cy="1143000"/>
          </a:xfrm>
        </p:spPr>
        <p:txBody>
          <a:bodyPr/>
          <a:lstStyle/>
          <a:p>
            <a:r>
              <a:rPr lang="zh-CN" altLang="en-US" sz="3600" dirty="0">
                <a:solidFill>
                  <a:schemeClr val="tx1"/>
                </a:solidFill>
                <a:sym typeface="+mn-ea"/>
              </a:rPr>
              <a:t>常用全参考算法</a:t>
            </a:r>
            <a:endParaRPr lang="zh-CN" altLang="en-US" sz="3600" b="1" dirty="0">
              <a:solidFill>
                <a:schemeClr val="tx1"/>
              </a:solidFill>
            </a:endParaRPr>
          </a:p>
        </p:txBody>
      </p:sp>
      <p:sp>
        <p:nvSpPr>
          <p:cNvPr id="5" name="文本框 4"/>
          <p:cNvSpPr txBox="1"/>
          <p:nvPr/>
        </p:nvSpPr>
        <p:spPr>
          <a:xfrm>
            <a:off x="0" y="836295"/>
            <a:ext cx="12089130" cy="1476375"/>
          </a:xfrm>
          <a:prstGeom prst="rect">
            <a:avLst/>
          </a:prstGeom>
          <a:noFill/>
        </p:spPr>
        <p:txBody>
          <a:bodyPr wrap="square" rtlCol="0">
            <a:spAutoFit/>
          </a:bodyPr>
          <a:lstStyle/>
          <a:p>
            <a:pPr>
              <a:lnSpc>
                <a:spcPct val="150000"/>
              </a:lnSpc>
            </a:pPr>
            <a:r>
              <a:rPr lang="zh-CN" altLang="en-US" sz="2000"/>
              <a:t>结构相似性（Structural Similarity，SSIM）</a:t>
            </a:r>
          </a:p>
          <a:p>
            <a:pPr marL="342900" indent="-342900">
              <a:lnSpc>
                <a:spcPct val="150000"/>
              </a:lnSpc>
              <a:buFont typeface="Arial" panose="020B0604020202020204" pitchFamily="34" charset="0"/>
              <a:buChar char="•"/>
            </a:pPr>
            <a:r>
              <a:rPr lang="zh-CN" altLang="en-US" sz="2000"/>
              <a:t>与传统的均方误差（MSE）和峰值信噪比（PSNR）方法不同，SSIM 更注重图像的结构信息，通过对图像的</a:t>
            </a:r>
            <a:r>
              <a:rPr lang="zh-CN" altLang="en-US" sz="2000" b="1"/>
              <a:t>亮度、对比度和结构</a:t>
            </a:r>
            <a:r>
              <a:rPr lang="zh-CN" altLang="en-US" sz="2000"/>
              <a:t>进行比较，得出两幅图像的相似度。</a:t>
            </a:r>
          </a:p>
        </p:txBody>
      </p:sp>
      <p:sp>
        <p:nvSpPr>
          <p:cNvPr id="6" name="文本框 5"/>
          <p:cNvSpPr txBox="1"/>
          <p:nvPr/>
        </p:nvSpPr>
        <p:spPr>
          <a:xfrm>
            <a:off x="0" y="6236970"/>
            <a:ext cx="12192000" cy="645160"/>
          </a:xfrm>
          <a:prstGeom prst="rect">
            <a:avLst/>
          </a:prstGeom>
          <a:noFill/>
        </p:spPr>
        <p:txBody>
          <a:bodyPr wrap="square" rtlCol="0">
            <a:spAutoFit/>
          </a:bodyPr>
          <a:lstStyle/>
          <a:p>
            <a:r>
              <a:rPr lang="zh-CN" altLang="en-US"/>
              <a:t>Wang Z, Bovik A C, Sheikh H R, et al. Image quality assessment: from error visibility to structural similarity[J]. IEEE transactions on image processing, 2004, 13(4): 600-612.</a:t>
            </a:r>
          </a:p>
        </p:txBody>
      </p:sp>
      <p:pic>
        <p:nvPicPr>
          <p:cNvPr id="7" name="图片 6"/>
          <p:cNvPicPr>
            <a:picLocks noChangeAspect="1"/>
          </p:cNvPicPr>
          <p:nvPr/>
        </p:nvPicPr>
        <p:blipFill>
          <a:blip r:embed="rId3"/>
          <a:stretch>
            <a:fillRect/>
          </a:stretch>
        </p:blipFill>
        <p:spPr>
          <a:xfrm>
            <a:off x="119380" y="2348865"/>
            <a:ext cx="9359900" cy="3759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78205" y="131445"/>
            <a:ext cx="7776210" cy="1143000"/>
          </a:xfrm>
        </p:spPr>
        <p:txBody>
          <a:bodyPr/>
          <a:lstStyle/>
          <a:p>
            <a:r>
              <a:rPr lang="zh-CN" altLang="en-US" sz="3600" dirty="0">
                <a:solidFill>
                  <a:schemeClr val="tx1"/>
                </a:solidFill>
                <a:sym typeface="+mn-ea"/>
              </a:rPr>
              <a:t>常用全参考算法</a:t>
            </a:r>
            <a:endParaRPr lang="zh-CN" altLang="en-US" sz="3600" b="1" dirty="0">
              <a:solidFill>
                <a:schemeClr val="tx1"/>
              </a:solidFill>
            </a:endParaRPr>
          </a:p>
        </p:txBody>
      </p:sp>
      <p:sp>
        <p:nvSpPr>
          <p:cNvPr id="5" name="文本框 4"/>
          <p:cNvSpPr txBox="1"/>
          <p:nvPr/>
        </p:nvSpPr>
        <p:spPr>
          <a:xfrm>
            <a:off x="0" y="836295"/>
            <a:ext cx="12089130" cy="1938020"/>
          </a:xfrm>
          <a:prstGeom prst="rect">
            <a:avLst/>
          </a:prstGeom>
          <a:noFill/>
        </p:spPr>
        <p:txBody>
          <a:bodyPr wrap="square" rtlCol="0">
            <a:spAutoFit/>
          </a:bodyPr>
          <a:lstStyle/>
          <a:p>
            <a:pPr>
              <a:lnSpc>
                <a:spcPct val="150000"/>
              </a:lnSpc>
            </a:pPr>
            <a:r>
              <a:rPr lang="zh-CN" altLang="en-US" sz="2000" dirty="0"/>
              <a:t>结构相似性（Structural Similarity，SSIM）</a:t>
            </a:r>
          </a:p>
          <a:p>
            <a:pPr marL="342900" indent="-342900">
              <a:lnSpc>
                <a:spcPct val="150000"/>
              </a:lnSpc>
              <a:buFont typeface="Arial" panose="020B0604020202020204" pitchFamily="34" charset="0"/>
              <a:buChar char="•"/>
            </a:pPr>
            <a:r>
              <a:rPr lang="zh-CN" altLang="en-US" sz="2000" dirty="0"/>
              <a:t>亮度比较（Luminance Comparison，l(x,y)）</a:t>
            </a:r>
          </a:p>
          <a:p>
            <a:pPr marL="342900" lvl="0" indent="-342900">
              <a:lnSpc>
                <a:spcPct val="150000"/>
              </a:lnSpc>
              <a:buFont typeface="Arial" panose="020B0604020202020204" pitchFamily="34" charset="0"/>
              <a:buChar char="•"/>
            </a:pPr>
            <a:r>
              <a:rPr lang="zh-CN" altLang="en-US" sz="2000" dirty="0"/>
              <a:t>对比度比较（Contrast Comparison，c(x,y)）</a:t>
            </a:r>
          </a:p>
          <a:p>
            <a:pPr marL="342900" lvl="0" indent="-342900">
              <a:lnSpc>
                <a:spcPct val="150000"/>
              </a:lnSpc>
              <a:buFont typeface="Arial" panose="020B0604020202020204" pitchFamily="34" charset="0"/>
              <a:buChar char="•"/>
            </a:pPr>
            <a:r>
              <a:rPr lang="zh-CN" altLang="en-US" sz="2000" dirty="0"/>
              <a:t>结构比较（Structure Comparison，s(x,y)）</a:t>
            </a:r>
          </a:p>
        </p:txBody>
      </p:sp>
      <p:pic>
        <p:nvPicPr>
          <p:cNvPr id="7" name="图片 6"/>
          <p:cNvPicPr>
            <a:picLocks noChangeAspect="1"/>
          </p:cNvPicPr>
          <p:nvPr/>
        </p:nvPicPr>
        <p:blipFill>
          <a:blip r:embed="rId3"/>
          <a:stretch>
            <a:fillRect/>
          </a:stretch>
        </p:blipFill>
        <p:spPr>
          <a:xfrm>
            <a:off x="262573" y="2852420"/>
            <a:ext cx="3044190" cy="1030605"/>
          </a:xfrm>
          <a:prstGeom prst="rect">
            <a:avLst/>
          </a:prstGeom>
        </p:spPr>
      </p:pic>
      <p:pic>
        <p:nvPicPr>
          <p:cNvPr id="8" name="图片 7"/>
          <p:cNvPicPr>
            <a:picLocks noChangeAspect="1"/>
          </p:cNvPicPr>
          <p:nvPr/>
        </p:nvPicPr>
        <p:blipFill>
          <a:blip r:embed="rId4"/>
          <a:srcRect t="12258"/>
          <a:stretch>
            <a:fillRect/>
          </a:stretch>
        </p:blipFill>
        <p:spPr>
          <a:xfrm>
            <a:off x="262890" y="4004945"/>
            <a:ext cx="3277235" cy="815340"/>
          </a:xfrm>
          <a:prstGeom prst="rect">
            <a:avLst/>
          </a:prstGeom>
        </p:spPr>
      </p:pic>
      <p:pic>
        <p:nvPicPr>
          <p:cNvPr id="9" name="图片 8"/>
          <p:cNvPicPr>
            <a:picLocks noChangeAspect="1"/>
          </p:cNvPicPr>
          <p:nvPr/>
        </p:nvPicPr>
        <p:blipFill>
          <a:blip r:embed="rId5"/>
          <a:stretch>
            <a:fillRect/>
          </a:stretch>
        </p:blipFill>
        <p:spPr>
          <a:xfrm>
            <a:off x="335280" y="5012690"/>
            <a:ext cx="2867025" cy="837565"/>
          </a:xfrm>
          <a:prstGeom prst="rect">
            <a:avLst/>
          </a:prstGeom>
        </p:spPr>
      </p:pic>
      <p:grpSp>
        <p:nvGrpSpPr>
          <p:cNvPr id="12" name="组合 11"/>
          <p:cNvGrpSpPr/>
          <p:nvPr/>
        </p:nvGrpSpPr>
        <p:grpSpPr>
          <a:xfrm>
            <a:off x="4213225" y="3094990"/>
            <a:ext cx="4770353" cy="1270000"/>
            <a:chOff x="6859" y="5059"/>
            <a:chExt cx="7545" cy="2000"/>
          </a:xfrm>
        </p:grpSpPr>
        <p:pic>
          <p:nvPicPr>
            <p:cNvPr id="10" name="图片 9"/>
            <p:cNvPicPr>
              <a:picLocks noChangeAspect="1"/>
            </p:cNvPicPr>
            <p:nvPr/>
          </p:nvPicPr>
          <p:blipFill>
            <a:blip r:embed="rId6"/>
            <a:stretch>
              <a:fillRect/>
            </a:stretch>
          </p:blipFill>
          <p:spPr>
            <a:xfrm>
              <a:off x="6859" y="5059"/>
              <a:ext cx="7545" cy="907"/>
            </a:xfrm>
            <a:prstGeom prst="rect">
              <a:avLst/>
            </a:prstGeom>
          </p:spPr>
        </p:pic>
        <p:pic>
          <p:nvPicPr>
            <p:cNvPr id="11" name="图片 10"/>
            <p:cNvPicPr>
              <a:picLocks noChangeAspect="1"/>
            </p:cNvPicPr>
            <p:nvPr/>
          </p:nvPicPr>
          <p:blipFill>
            <a:blip r:embed="rId7"/>
            <a:srcRect l="26673"/>
            <a:stretch>
              <a:fillRect/>
            </a:stretch>
          </p:blipFill>
          <p:spPr>
            <a:xfrm>
              <a:off x="8925" y="5925"/>
              <a:ext cx="5479" cy="1134"/>
            </a:xfrm>
            <a:prstGeom prst="rect">
              <a:avLst/>
            </a:prstGeom>
          </p:spPr>
        </p:pic>
      </p:grpSp>
      <p:pic>
        <p:nvPicPr>
          <p:cNvPr id="4" name="图片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35195" y="3757321"/>
            <a:ext cx="2161081" cy="4952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6985"/>
            <a:ext cx="4064000" cy="645160"/>
          </a:xfrm>
          <a:prstGeom prst="rect">
            <a:avLst/>
          </a:prstGeom>
          <a:noFill/>
        </p:spPr>
        <p:txBody>
          <a:bodyPr wrap="square" rtlCol="0">
            <a:spAutoFit/>
          </a:bodyPr>
          <a:lstStyle/>
          <a:p>
            <a:r>
              <a:rPr lang="en-US" altLang="zh-CN" sz="3600" b="1"/>
              <a:t>IQA</a:t>
            </a:r>
            <a:r>
              <a:rPr lang="zh-CN" altLang="en-US" sz="3600" b="1"/>
              <a:t>作业</a:t>
            </a:r>
          </a:p>
        </p:txBody>
      </p:sp>
      <p:sp>
        <p:nvSpPr>
          <p:cNvPr id="5" name="文本框 4"/>
          <p:cNvSpPr txBox="1"/>
          <p:nvPr/>
        </p:nvSpPr>
        <p:spPr>
          <a:xfrm>
            <a:off x="106680" y="702945"/>
            <a:ext cx="12084685" cy="2584450"/>
          </a:xfrm>
          <a:prstGeom prst="rect">
            <a:avLst/>
          </a:prstGeom>
          <a:noFill/>
        </p:spPr>
        <p:txBody>
          <a:bodyPr wrap="square" rtlCol="0">
            <a:spAutoFit/>
          </a:bodyPr>
          <a:lstStyle/>
          <a:p>
            <a:pPr marL="342900" indent="-342900">
              <a:lnSpc>
                <a:spcPct val="150000"/>
              </a:lnSpc>
              <a:buAutoNum type="arabicPeriod"/>
            </a:pPr>
            <a:r>
              <a:rPr lang="zh-CN" altLang="en-US" dirty="0"/>
              <a:t>复现</a:t>
            </a:r>
            <a:r>
              <a:rPr lang="en-US" altLang="zh-CN" dirty="0"/>
              <a:t>PSNR </a:t>
            </a:r>
            <a:r>
              <a:rPr lang="zh-CN" altLang="en-US" dirty="0"/>
              <a:t>（</a:t>
            </a:r>
            <a:r>
              <a:rPr lang="en-US" altLang="zh-CN" dirty="0"/>
              <a:t>5</a:t>
            </a:r>
            <a:r>
              <a:rPr lang="zh-CN" altLang="en-US" dirty="0"/>
              <a:t>分）</a:t>
            </a:r>
            <a:endParaRPr lang="en-US" altLang="zh-CN" dirty="0"/>
          </a:p>
          <a:p>
            <a:pPr marL="342900" indent="-342900">
              <a:lnSpc>
                <a:spcPct val="150000"/>
              </a:lnSpc>
              <a:buAutoNum type="arabicPeriod"/>
            </a:pPr>
            <a:r>
              <a:rPr lang="en-US" altLang="zh-CN" dirty="0"/>
              <a:t>SSIM</a:t>
            </a:r>
            <a:r>
              <a:rPr lang="zh-CN" altLang="en-US" dirty="0"/>
              <a:t>探索</a:t>
            </a:r>
            <a:r>
              <a:rPr lang="en-US" altLang="zh-CN" dirty="0"/>
              <a:t> </a:t>
            </a:r>
            <a:r>
              <a:rPr lang="zh-CN" altLang="en-US" dirty="0"/>
              <a:t>（</a:t>
            </a:r>
            <a:r>
              <a:rPr lang="en-US" altLang="zh-CN" dirty="0"/>
              <a:t>15</a:t>
            </a:r>
            <a:r>
              <a:rPr lang="zh-CN" altLang="en-US" dirty="0"/>
              <a:t>分）</a:t>
            </a:r>
          </a:p>
          <a:p>
            <a:pPr marL="800100" lvl="1" indent="-342900">
              <a:lnSpc>
                <a:spcPct val="150000"/>
              </a:lnSpc>
              <a:buFont typeface="Arial" panose="020B0604020202020204" pitchFamily="34" charset="0"/>
              <a:buChar char="•"/>
            </a:pPr>
            <a:r>
              <a:rPr lang="zh-CN" altLang="en-US" dirty="0"/>
              <a:t>理论</a:t>
            </a:r>
            <a:r>
              <a:rPr lang="en-US" altLang="zh-CN" dirty="0"/>
              <a:t>SSIM</a:t>
            </a:r>
            <a:r>
              <a:rPr lang="zh-CN" altLang="en-US" dirty="0"/>
              <a:t>公式直接计算完整参考图像与失真图像之间的</a:t>
            </a:r>
            <a:r>
              <a:rPr lang="zh-CN" altLang="en-US" b="1" dirty="0"/>
              <a:t>全局结构相似性</a:t>
            </a:r>
            <a:r>
              <a:rPr lang="zh-CN" altLang="en-US" dirty="0"/>
              <a:t>。但观察官方源码发现，</a:t>
            </a:r>
            <a:r>
              <a:rPr lang="en-US" altLang="zh-CN" dirty="0"/>
              <a:t>SSIM</a:t>
            </a:r>
            <a:r>
              <a:rPr lang="zh-CN" altLang="en-US" dirty="0"/>
              <a:t>的是基于</a:t>
            </a:r>
            <a:r>
              <a:rPr lang="zh-CN" altLang="en-US" b="1" dirty="0"/>
              <a:t>滑动窗计算局部</a:t>
            </a:r>
            <a:r>
              <a:rPr lang="en-US" altLang="zh-CN" dirty="0"/>
              <a:t>SSIM</a:t>
            </a:r>
            <a:r>
              <a:rPr lang="zh-CN" altLang="en-US" dirty="0"/>
              <a:t>取平均得到的，请问为什么要这么做（</a:t>
            </a:r>
            <a:r>
              <a:rPr lang="en-US" altLang="zh-CN" dirty="0"/>
              <a:t>5</a:t>
            </a:r>
            <a:r>
              <a:rPr lang="zh-CN" altLang="en-US" dirty="0"/>
              <a:t>分）</a:t>
            </a:r>
            <a:endParaRPr lang="en-US" altLang="zh-CN" dirty="0"/>
          </a:p>
          <a:p>
            <a:pPr marL="800100" lvl="1" indent="-342900">
              <a:lnSpc>
                <a:spcPct val="150000"/>
              </a:lnSpc>
              <a:buFont typeface="Arial" panose="020B0604020202020204" pitchFamily="34" charset="0"/>
              <a:buChar char="•"/>
            </a:pPr>
            <a:r>
              <a:rPr lang="en-US" altLang="zh-CN" dirty="0"/>
              <a:t>SSIM</a:t>
            </a:r>
            <a:r>
              <a:rPr lang="zh-CN" altLang="en-US" dirty="0"/>
              <a:t>代码复现：将滑动窗口大小设置为</a:t>
            </a:r>
            <a:r>
              <a:rPr lang="en-US" altLang="zh-CN" dirty="0"/>
              <a:t>9</a:t>
            </a:r>
            <a:r>
              <a:rPr lang="zh-CN" altLang="en-US" dirty="0"/>
              <a:t>，采用均值加权平均（</a:t>
            </a:r>
            <a:r>
              <a:rPr lang="en-US" altLang="zh-CN" dirty="0"/>
              <a:t>10</a:t>
            </a:r>
            <a:r>
              <a:rPr lang="zh-CN" altLang="en-US" dirty="0"/>
              <a:t>分）</a:t>
            </a:r>
          </a:p>
          <a:p>
            <a:pPr marL="0" lvl="0" indent="0">
              <a:lnSpc>
                <a:spcPct val="150000"/>
              </a:lnSpc>
              <a:buFont typeface="Arial" panose="020B0604020202020204" pitchFamily="34" charset="0"/>
              <a:buNone/>
            </a:pPr>
            <a:r>
              <a:rPr lang="en-US" altLang="zh-CN" dirty="0"/>
              <a:t>SSIM</a:t>
            </a:r>
            <a:r>
              <a:rPr lang="zh-CN" altLang="en-US" dirty="0"/>
              <a:t>源码参见：skimage.metrics</a:t>
            </a:r>
            <a:r>
              <a:rPr lang="en-US" altLang="zh-CN" dirty="0"/>
              <a:t>.</a:t>
            </a:r>
            <a:r>
              <a:rPr lang="zh-CN" altLang="en-US" dirty="0"/>
              <a:t>structural_similarity</a:t>
            </a:r>
          </a:p>
        </p:txBody>
      </p:sp>
      <p:pic>
        <p:nvPicPr>
          <p:cNvPr id="8" name="图片 7"/>
          <p:cNvPicPr>
            <a:picLocks noChangeAspect="1"/>
          </p:cNvPicPr>
          <p:nvPr/>
        </p:nvPicPr>
        <p:blipFill>
          <a:blip r:embed="rId3"/>
          <a:stretch>
            <a:fillRect/>
          </a:stretch>
        </p:blipFill>
        <p:spPr>
          <a:xfrm>
            <a:off x="5239385" y="509270"/>
            <a:ext cx="4829175" cy="942975"/>
          </a:xfrm>
          <a:prstGeom prst="rect">
            <a:avLst/>
          </a:prstGeom>
        </p:spPr>
      </p:pic>
      <p:pic>
        <p:nvPicPr>
          <p:cNvPr id="9" name="图片 8" descr="1600"/>
          <p:cNvPicPr>
            <a:picLocks noChangeAspect="1"/>
          </p:cNvPicPr>
          <p:nvPr/>
        </p:nvPicPr>
        <p:blipFill>
          <a:blip r:embed="rId4"/>
          <a:stretch>
            <a:fillRect/>
          </a:stretch>
        </p:blipFill>
        <p:spPr>
          <a:xfrm>
            <a:off x="148590" y="3803650"/>
            <a:ext cx="2252980" cy="2252980"/>
          </a:xfrm>
          <a:prstGeom prst="rect">
            <a:avLst/>
          </a:prstGeom>
        </p:spPr>
      </p:pic>
      <p:pic>
        <p:nvPicPr>
          <p:cNvPr id="10" name="图片 9" descr="1600.AWGN.5"/>
          <p:cNvPicPr>
            <a:picLocks noChangeAspect="1"/>
          </p:cNvPicPr>
          <p:nvPr/>
        </p:nvPicPr>
        <p:blipFill>
          <a:blip r:embed="rId5"/>
          <a:stretch>
            <a:fillRect/>
          </a:stretch>
        </p:blipFill>
        <p:spPr>
          <a:xfrm>
            <a:off x="4291965" y="3803650"/>
            <a:ext cx="2249805" cy="2249805"/>
          </a:xfrm>
          <a:prstGeom prst="rect">
            <a:avLst/>
          </a:prstGeom>
        </p:spPr>
      </p:pic>
      <p:sp>
        <p:nvSpPr>
          <p:cNvPr id="11" name="文本框 10"/>
          <p:cNvSpPr txBox="1"/>
          <p:nvPr/>
        </p:nvSpPr>
        <p:spPr>
          <a:xfrm>
            <a:off x="2402205" y="4466590"/>
            <a:ext cx="1890395" cy="368300"/>
          </a:xfrm>
          <a:prstGeom prst="rect">
            <a:avLst/>
          </a:prstGeom>
          <a:noFill/>
        </p:spPr>
        <p:txBody>
          <a:bodyPr wrap="square" rtlCol="0">
            <a:spAutoFit/>
          </a:bodyPr>
          <a:lstStyle/>
          <a:p>
            <a:pPr algn="ctr"/>
            <a:r>
              <a:rPr lang="zh-CN" altLang="en-US"/>
              <a:t>计算全局</a:t>
            </a:r>
            <a:r>
              <a:rPr lang="en-US" altLang="zh-CN"/>
              <a:t>SSIM</a:t>
            </a:r>
          </a:p>
        </p:txBody>
      </p:sp>
      <p:cxnSp>
        <p:nvCxnSpPr>
          <p:cNvPr id="12" name="直接箭头连接符 11"/>
          <p:cNvCxnSpPr/>
          <p:nvPr/>
        </p:nvCxnSpPr>
        <p:spPr>
          <a:xfrm>
            <a:off x="2486660" y="4930140"/>
            <a:ext cx="1720215" cy="0"/>
          </a:xfrm>
          <a:prstGeom prst="straightConnector1">
            <a:avLst/>
          </a:prstGeom>
          <a:ln w="41275">
            <a:headEnd type="triangle"/>
            <a:tailEnd type="triangle"/>
          </a:ln>
        </p:spPr>
        <p:style>
          <a:lnRef idx="2">
            <a:schemeClr val="accent1"/>
          </a:lnRef>
          <a:fillRef idx="0">
            <a:srgbClr val="FFFFFF"/>
          </a:fillRef>
          <a:effectRef idx="0">
            <a:srgbClr val="FFFFFF"/>
          </a:effectRef>
          <a:fontRef idx="minor">
            <a:schemeClr val="tx1"/>
          </a:fontRef>
        </p:style>
      </p:cxnSp>
      <p:pic>
        <p:nvPicPr>
          <p:cNvPr id="13" name="图片 12" descr="1600"/>
          <p:cNvPicPr>
            <a:picLocks noChangeAspect="1"/>
          </p:cNvPicPr>
          <p:nvPr/>
        </p:nvPicPr>
        <p:blipFill>
          <a:blip r:embed="rId4"/>
          <a:stretch>
            <a:fillRect/>
          </a:stretch>
        </p:blipFill>
        <p:spPr>
          <a:xfrm>
            <a:off x="6753860" y="3803650"/>
            <a:ext cx="2252980" cy="2252980"/>
          </a:xfrm>
          <a:prstGeom prst="rect">
            <a:avLst/>
          </a:prstGeom>
        </p:spPr>
      </p:pic>
      <p:pic>
        <p:nvPicPr>
          <p:cNvPr id="14" name="图片 13" descr="1600.AWGN.5"/>
          <p:cNvPicPr>
            <a:picLocks noChangeAspect="1"/>
          </p:cNvPicPr>
          <p:nvPr/>
        </p:nvPicPr>
        <p:blipFill>
          <a:blip r:embed="rId5"/>
          <a:stretch>
            <a:fillRect/>
          </a:stretch>
        </p:blipFill>
        <p:spPr>
          <a:xfrm>
            <a:off x="9568180" y="3803650"/>
            <a:ext cx="2249805" cy="2249805"/>
          </a:xfrm>
          <a:prstGeom prst="rect">
            <a:avLst/>
          </a:prstGeom>
        </p:spPr>
      </p:pic>
      <p:sp>
        <p:nvSpPr>
          <p:cNvPr id="15" name="文本框 14"/>
          <p:cNvSpPr txBox="1"/>
          <p:nvPr/>
        </p:nvSpPr>
        <p:spPr>
          <a:xfrm>
            <a:off x="8178165" y="6437630"/>
            <a:ext cx="1890395" cy="368300"/>
          </a:xfrm>
          <a:prstGeom prst="rect">
            <a:avLst/>
          </a:prstGeom>
          <a:noFill/>
        </p:spPr>
        <p:txBody>
          <a:bodyPr wrap="square" rtlCol="0">
            <a:spAutoFit/>
          </a:bodyPr>
          <a:lstStyle/>
          <a:p>
            <a:pPr algn="ctr"/>
            <a:r>
              <a:rPr lang="zh-CN" altLang="en-US"/>
              <a:t>计算局部</a:t>
            </a:r>
            <a:r>
              <a:rPr lang="en-US" altLang="zh-CN"/>
              <a:t>SSIM</a:t>
            </a:r>
          </a:p>
        </p:txBody>
      </p:sp>
      <p:sp>
        <p:nvSpPr>
          <p:cNvPr id="17" name="矩形 16"/>
          <p:cNvSpPr/>
          <p:nvPr/>
        </p:nvSpPr>
        <p:spPr>
          <a:xfrm>
            <a:off x="6968490" y="3894455"/>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矩形 17"/>
          <p:cNvSpPr/>
          <p:nvPr/>
        </p:nvSpPr>
        <p:spPr>
          <a:xfrm>
            <a:off x="9825990" y="3894455"/>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9" name="曲线连接符 18"/>
          <p:cNvCxnSpPr>
            <a:stCxn id="17" idx="0"/>
            <a:endCxn id="18" idx="0"/>
          </p:cNvCxnSpPr>
          <p:nvPr/>
        </p:nvCxnSpPr>
        <p:spPr>
          <a:xfrm rot="16200000" flipH="1">
            <a:off x="8518525" y="2465705"/>
            <a:ext cx="3175" cy="2857500"/>
          </a:xfrm>
          <a:prstGeom prst="curvedConnector3">
            <a:avLst>
              <a:gd name="adj1" fmla="val -10190000"/>
            </a:avLst>
          </a:prstGeom>
          <a:ln w="38100">
            <a:solidFill>
              <a:schemeClr val="accent4">
                <a:lumMod val="75000"/>
              </a:schemeClr>
            </a:solidFill>
            <a:headEnd type="triangle"/>
            <a:tailEnd type="triangle"/>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6798945" y="5424805"/>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矩形 20"/>
          <p:cNvSpPr/>
          <p:nvPr/>
        </p:nvSpPr>
        <p:spPr>
          <a:xfrm>
            <a:off x="9656445" y="5424805"/>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2" name="曲线连接符 21"/>
          <p:cNvCxnSpPr/>
          <p:nvPr/>
        </p:nvCxnSpPr>
        <p:spPr>
          <a:xfrm rot="5400000" flipV="1">
            <a:off x="8348980" y="4238625"/>
            <a:ext cx="3175" cy="2857500"/>
          </a:xfrm>
          <a:prstGeom prst="curvedConnector3">
            <a:avLst>
              <a:gd name="adj1" fmla="val 20750000"/>
            </a:avLst>
          </a:prstGeom>
          <a:ln w="38100">
            <a:solidFill>
              <a:schemeClr val="accent4">
                <a:lumMod val="75000"/>
              </a:schemeClr>
            </a:solidFill>
            <a:headEnd type="triangle"/>
            <a:tailEnd type="triangle"/>
          </a:ln>
        </p:spPr>
        <p:style>
          <a:lnRef idx="2">
            <a:schemeClr val="accent1"/>
          </a:lnRef>
          <a:fillRef idx="0">
            <a:srgbClr val="FFFFFF"/>
          </a:fillRef>
          <a:effectRef idx="0">
            <a:srgbClr val="FFFFFF"/>
          </a:effectRef>
          <a:fontRef idx="minor">
            <a:schemeClr val="tx1"/>
          </a:fontRef>
        </p:style>
      </p:cxnSp>
      <p:sp>
        <p:nvSpPr>
          <p:cNvPr id="23" name="矩形 22"/>
          <p:cNvSpPr/>
          <p:nvPr/>
        </p:nvSpPr>
        <p:spPr>
          <a:xfrm>
            <a:off x="8187690" y="4763770"/>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矩形 23"/>
          <p:cNvSpPr/>
          <p:nvPr/>
        </p:nvSpPr>
        <p:spPr>
          <a:xfrm>
            <a:off x="11045190" y="4763770"/>
            <a:ext cx="242570" cy="242570"/>
          </a:xfrm>
          <a:prstGeom prst="rect">
            <a:avLst/>
          </a:prstGeom>
          <a:no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5" name="曲线连接符 24"/>
          <p:cNvCxnSpPr>
            <a:stCxn id="23" idx="0"/>
            <a:endCxn id="24" idx="0"/>
          </p:cNvCxnSpPr>
          <p:nvPr/>
        </p:nvCxnSpPr>
        <p:spPr>
          <a:xfrm rot="16200000" flipH="1">
            <a:off x="9737725" y="3335020"/>
            <a:ext cx="3175" cy="2857500"/>
          </a:xfrm>
          <a:prstGeom prst="curvedConnector3">
            <a:avLst>
              <a:gd name="adj1" fmla="val -7450000"/>
            </a:avLst>
          </a:prstGeom>
          <a:ln w="38100">
            <a:solidFill>
              <a:schemeClr val="accent4">
                <a:lumMod val="75000"/>
              </a:schemeClr>
            </a:solidFill>
            <a:headEnd type="triangle"/>
            <a:tailEnd type="triangle"/>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0" y="827405"/>
            <a:ext cx="12146280" cy="4661535"/>
          </a:xfrm>
          <a:prstGeom prst="rect">
            <a:avLst/>
          </a:prstGeom>
          <a:noFill/>
        </p:spPr>
        <p:txBody>
          <a:bodyPr wrap="square" rtlCol="0">
            <a:spAutoFit/>
          </a:bodyPr>
          <a:lstStyle/>
          <a:p>
            <a:pPr>
              <a:lnSpc>
                <a:spcPct val="150000"/>
              </a:lnSpc>
            </a:pPr>
            <a:r>
              <a:rPr lang="zh-CN" altLang="en-US" b="1"/>
              <a:t>提交要求：</a:t>
            </a:r>
          </a:p>
          <a:p>
            <a:pPr marL="342900" indent="-342900">
              <a:lnSpc>
                <a:spcPct val="150000"/>
              </a:lnSpc>
              <a:buFont typeface="Arial" panose="020B0604020202020204" pitchFamily="34" charset="0"/>
              <a:buAutoNum type="arabicPeriod"/>
            </a:pPr>
            <a:r>
              <a:rPr lang="zh-CN" altLang="en-US"/>
              <a:t>质量分数：提交</a:t>
            </a:r>
            <a:r>
              <a:rPr lang="en-US" altLang="zh-CN"/>
              <a:t>score.csv</a:t>
            </a:r>
            <a:r>
              <a:rPr lang="zh-CN" altLang="en-US"/>
              <a:t>文件，第一列为图片名称，第二列为复现的</a:t>
            </a:r>
            <a:r>
              <a:rPr lang="en-US" altLang="zh-CN"/>
              <a:t>PSNR</a:t>
            </a:r>
            <a:r>
              <a:rPr lang="zh-CN" altLang="en-US"/>
              <a:t>分数，第三列为复现的</a:t>
            </a:r>
            <a:r>
              <a:rPr lang="en-US" altLang="zh-CN"/>
              <a:t>SSIM</a:t>
            </a:r>
            <a:r>
              <a:rPr lang="zh-CN" altLang="en-US"/>
              <a:t>分数（确保图片名称与分数的一一对应）</a:t>
            </a:r>
          </a:p>
          <a:p>
            <a:pPr marL="342900" indent="-342900">
              <a:lnSpc>
                <a:spcPct val="150000"/>
              </a:lnSpc>
              <a:buFont typeface="Arial" panose="020B0604020202020204" pitchFamily="34" charset="0"/>
              <a:buAutoNum type="arabicPeriod"/>
            </a:pPr>
            <a:r>
              <a:rPr lang="zh-CN" altLang="en-US"/>
              <a:t>源代码：提交</a:t>
            </a:r>
            <a:r>
              <a:rPr lang="en-US" altLang="zh-CN"/>
              <a:t>py</a:t>
            </a:r>
            <a:r>
              <a:rPr lang="zh-CN" altLang="en-US"/>
              <a:t>文件，并指定第三方库和</a:t>
            </a:r>
            <a:r>
              <a:rPr lang="en-US" altLang="zh-CN"/>
              <a:t>python</a:t>
            </a:r>
            <a:r>
              <a:rPr lang="zh-CN" altLang="en-US"/>
              <a:t>版本以及一个</a:t>
            </a:r>
            <a:r>
              <a:rPr lang="en-US" altLang="zh-CN"/>
              <a:t>sh</a:t>
            </a:r>
            <a:r>
              <a:rPr lang="zh-CN" altLang="en-US"/>
              <a:t>脚本</a:t>
            </a:r>
            <a:r>
              <a:rPr lang="en-US" altLang="zh-CN"/>
              <a:t> (run.sh)</a:t>
            </a:r>
            <a:endParaRPr lang="zh-CN" altLang="en-US"/>
          </a:p>
          <a:p>
            <a:pPr marL="285750" indent="-285750">
              <a:lnSpc>
                <a:spcPct val="150000"/>
              </a:lnSpc>
              <a:buFont typeface="Arial" panose="020B0604020202020204" pitchFamily="34" charset="0"/>
              <a:buChar char="•"/>
            </a:pPr>
            <a:r>
              <a:rPr lang="zh-CN" altLang="en-US"/>
              <a:t>要求：直接通过在命令行输入指令</a:t>
            </a:r>
            <a:r>
              <a:rPr lang="en-US" altLang="zh-CN"/>
              <a:t>: sh run.sh</a:t>
            </a:r>
            <a:r>
              <a:rPr lang="zh-CN" altLang="en-US"/>
              <a:t>，直接得到</a:t>
            </a:r>
            <a:r>
              <a:rPr lang="en-US" altLang="zh-CN">
                <a:sym typeface="+mn-ea"/>
              </a:rPr>
              <a:t>score_test.csv</a:t>
            </a:r>
            <a:r>
              <a:rPr lang="zh-CN" altLang="en-US">
                <a:sym typeface="+mn-ea"/>
              </a:rPr>
              <a:t>文件（生成的</a:t>
            </a:r>
            <a:r>
              <a:rPr lang="en-US" altLang="zh-CN">
                <a:sym typeface="+mn-ea"/>
              </a:rPr>
              <a:t>score_test.csv</a:t>
            </a:r>
            <a:r>
              <a:rPr lang="zh-CN" altLang="en-US">
                <a:sym typeface="+mn-ea"/>
              </a:rPr>
              <a:t>应与</a:t>
            </a:r>
            <a:r>
              <a:rPr lang="en-US" altLang="zh-CN">
                <a:sym typeface="+mn-ea"/>
              </a:rPr>
              <a:t>score.csv</a:t>
            </a:r>
            <a:r>
              <a:rPr lang="zh-CN" altLang="en-US">
                <a:sym typeface="+mn-ea"/>
              </a:rPr>
              <a:t>完全相同，建议使用相对路径。请将给定的测试图片一并上传）</a:t>
            </a:r>
          </a:p>
          <a:p>
            <a:pPr marL="285750" indent="-285750">
              <a:lnSpc>
                <a:spcPct val="150000"/>
              </a:lnSpc>
              <a:buFont typeface="Arial" panose="020B0604020202020204" pitchFamily="34" charset="0"/>
              <a:buChar char="•"/>
            </a:pPr>
            <a:endParaRPr lang="zh-CN" altLang="en-US">
              <a:sym typeface="+mn-ea"/>
            </a:endParaRPr>
          </a:p>
          <a:p>
            <a:pPr indent="0">
              <a:lnSpc>
                <a:spcPct val="150000"/>
              </a:lnSpc>
              <a:buNone/>
            </a:pPr>
            <a:r>
              <a:rPr lang="zh-CN" altLang="en-US" b="1">
                <a:sym typeface="+mn-ea"/>
              </a:rPr>
              <a:t>评分规则：</a:t>
            </a:r>
            <a:endParaRPr lang="zh-CN" altLang="en-US" b="1"/>
          </a:p>
          <a:p>
            <a:pPr marL="285750" indent="-285750">
              <a:lnSpc>
                <a:spcPct val="150000"/>
              </a:lnSpc>
              <a:buFont typeface="Arial" panose="020B0604020202020204" pitchFamily="34" charset="0"/>
              <a:buChar char="•"/>
            </a:pPr>
            <a:r>
              <a:rPr lang="zh-CN" altLang="en-US">
                <a:sym typeface="+mn-ea"/>
              </a:rPr>
              <a:t>计算</a:t>
            </a:r>
            <a:r>
              <a:rPr lang="en-US" altLang="zh-CN">
                <a:sym typeface="+mn-ea"/>
              </a:rPr>
              <a:t>score_test.csv</a:t>
            </a:r>
            <a:r>
              <a:rPr lang="zh-CN" altLang="en-US">
                <a:sym typeface="+mn-ea"/>
              </a:rPr>
              <a:t>与标准质量分数（不提供）的</a:t>
            </a:r>
            <a:r>
              <a:rPr lang="en-US" altLang="zh-CN">
                <a:sym typeface="+mn-ea"/>
              </a:rPr>
              <a:t>PLCC</a:t>
            </a:r>
            <a:r>
              <a:rPr lang="zh-CN" altLang="en-US">
                <a:sym typeface="+mn-ea"/>
              </a:rPr>
              <a:t>、</a:t>
            </a:r>
            <a:r>
              <a:rPr lang="en-US" altLang="zh-CN">
                <a:sym typeface="+mn-ea"/>
              </a:rPr>
              <a:t>SROCC</a:t>
            </a:r>
            <a:r>
              <a:rPr lang="zh-CN" altLang="en-US">
                <a:sym typeface="+mn-ea"/>
              </a:rPr>
              <a:t>和</a:t>
            </a:r>
            <a:r>
              <a:rPr lang="en-US" altLang="zh-CN">
                <a:sym typeface="+mn-ea"/>
              </a:rPr>
              <a:t>MAE</a:t>
            </a:r>
            <a:endParaRPr lang="en-US" altLang="zh-CN"/>
          </a:p>
          <a:p>
            <a:pPr marL="285750" indent="-285750">
              <a:lnSpc>
                <a:spcPct val="150000"/>
              </a:lnSpc>
              <a:buFont typeface="Arial" panose="020B0604020202020204" pitchFamily="34" charset="0"/>
              <a:buChar char="•"/>
            </a:pPr>
            <a:r>
              <a:rPr lang="en-US" altLang="zh-CN">
                <a:sym typeface="+mn-ea"/>
              </a:rPr>
              <a:t>PSNR</a:t>
            </a:r>
            <a:r>
              <a:rPr lang="zh-CN" altLang="en-US">
                <a:sym typeface="+mn-ea"/>
              </a:rPr>
              <a:t>复现得分为：</a:t>
            </a:r>
            <a:r>
              <a:rPr lang="en-US" altLang="zh-CN">
                <a:sym typeface="+mn-ea"/>
              </a:rPr>
              <a:t>(PLCC + SROCC) / 2 * 5</a:t>
            </a:r>
            <a:endParaRPr lang="en-US" altLang="zh-CN"/>
          </a:p>
          <a:p>
            <a:pPr marL="285750" indent="-285750">
              <a:lnSpc>
                <a:spcPct val="150000"/>
              </a:lnSpc>
              <a:buFont typeface="Arial" panose="020B0604020202020204" pitchFamily="34" charset="0"/>
              <a:buChar char="•"/>
            </a:pPr>
            <a:r>
              <a:rPr lang="en-US" altLang="zh-CN">
                <a:sym typeface="+mn-ea"/>
              </a:rPr>
              <a:t>SSIM</a:t>
            </a:r>
            <a:r>
              <a:rPr lang="zh-CN" altLang="en-US">
                <a:sym typeface="+mn-ea"/>
              </a:rPr>
              <a:t>复现得分为：</a:t>
            </a:r>
            <a:r>
              <a:rPr lang="en-US" altLang="zh-CN">
                <a:sym typeface="+mn-ea"/>
              </a:rPr>
              <a:t>(PLCC + SROCC + (1 - MAE)) / 3 * 10</a:t>
            </a:r>
            <a:endParaRPr lang="zh-CN" altLang="en-US"/>
          </a:p>
        </p:txBody>
      </p:sp>
      <p:sp>
        <p:nvSpPr>
          <p:cNvPr id="4" name="文本框 3"/>
          <p:cNvSpPr txBox="1"/>
          <p:nvPr/>
        </p:nvSpPr>
        <p:spPr>
          <a:xfrm>
            <a:off x="0" y="6985"/>
            <a:ext cx="4064000" cy="645160"/>
          </a:xfrm>
          <a:prstGeom prst="rect">
            <a:avLst/>
          </a:prstGeom>
          <a:noFill/>
        </p:spPr>
        <p:txBody>
          <a:bodyPr wrap="square" rtlCol="0">
            <a:spAutoFit/>
          </a:bodyPr>
          <a:lstStyle/>
          <a:p>
            <a:r>
              <a:rPr lang="en-US" altLang="zh-CN" sz="3600" b="1"/>
              <a:t>IQA</a:t>
            </a:r>
            <a:r>
              <a:rPr lang="zh-CN" altLang="en-US" sz="3600" b="1"/>
              <a:t>作业</a:t>
            </a:r>
          </a:p>
        </p:txBody>
      </p:sp>
      <p:graphicFrame>
        <p:nvGraphicFramePr>
          <p:cNvPr id="2" name="表格 1"/>
          <p:cNvGraphicFramePr/>
          <p:nvPr>
            <p:custDataLst>
              <p:tags r:id="rId2"/>
            </p:custDataLst>
          </p:nvPr>
        </p:nvGraphicFramePr>
        <p:xfrm>
          <a:off x="6332220" y="374650"/>
          <a:ext cx="5659755" cy="786765"/>
        </p:xfrm>
        <a:graphic>
          <a:graphicData uri="http://schemas.openxmlformats.org/drawingml/2006/table">
            <a:tbl>
              <a:tblPr firstRow="1" bandRow="1">
                <a:tableStyleId>{5C22544A-7EE6-4342-B048-85BDC9FD1C3A}</a:tableStyleId>
              </a:tblPr>
              <a:tblGrid>
                <a:gridCol w="2174240">
                  <a:extLst>
                    <a:ext uri="{9D8B030D-6E8A-4147-A177-3AD203B41FA5}">
                      <a16:colId xmlns:a16="http://schemas.microsoft.com/office/drawing/2014/main" val="20000"/>
                    </a:ext>
                  </a:extLst>
                </a:gridCol>
                <a:gridCol w="1598930">
                  <a:extLst>
                    <a:ext uri="{9D8B030D-6E8A-4147-A177-3AD203B41FA5}">
                      <a16:colId xmlns:a16="http://schemas.microsoft.com/office/drawing/2014/main" val="20001"/>
                    </a:ext>
                  </a:extLst>
                </a:gridCol>
                <a:gridCol w="1886585">
                  <a:extLst>
                    <a:ext uri="{9D8B030D-6E8A-4147-A177-3AD203B41FA5}">
                      <a16:colId xmlns:a16="http://schemas.microsoft.com/office/drawing/2014/main" val="20002"/>
                    </a:ext>
                  </a:extLst>
                </a:gridCol>
              </a:tblGrid>
              <a:tr h="421005">
                <a:tc>
                  <a:txBody>
                    <a:bodyPr/>
                    <a:lstStyle/>
                    <a:p>
                      <a:pPr algn="ctr">
                        <a:buNone/>
                      </a:pPr>
                      <a:r>
                        <a:rPr lang="en-US" altLang="zh-CN" sz="1400"/>
                        <a:t>ImageName</a:t>
                      </a:r>
                    </a:p>
                  </a:txBody>
                  <a:tcPr anchor="ctr"/>
                </a:tc>
                <a:tc>
                  <a:txBody>
                    <a:bodyPr/>
                    <a:lstStyle/>
                    <a:p>
                      <a:pPr algn="ctr">
                        <a:buNone/>
                      </a:pPr>
                      <a:r>
                        <a:rPr lang="en-US" altLang="zh-CN" sz="1400"/>
                        <a:t>PSNR</a:t>
                      </a:r>
                    </a:p>
                  </a:txBody>
                  <a:tcPr anchor="ctr"/>
                </a:tc>
                <a:tc>
                  <a:txBody>
                    <a:bodyPr/>
                    <a:lstStyle/>
                    <a:p>
                      <a:pPr algn="ctr">
                        <a:buNone/>
                      </a:pPr>
                      <a:r>
                        <a:rPr lang="en-US" altLang="zh-CN" sz="1400"/>
                        <a:t>SSIM</a:t>
                      </a:r>
                    </a:p>
                  </a:txBody>
                  <a:tcPr anchor="ctr"/>
                </a:tc>
                <a:extLst>
                  <a:ext uri="{0D108BD9-81ED-4DB2-BD59-A6C34878D82A}">
                    <a16:rowId xmlns:a16="http://schemas.microsoft.com/office/drawing/2014/main" val="10000"/>
                  </a:ext>
                </a:extLst>
              </a:tr>
              <a:tr h="224155">
                <a:tc>
                  <a:txBody>
                    <a:bodyPr/>
                    <a:lstStyle/>
                    <a:p>
                      <a:pPr algn="ctr">
                        <a:buNone/>
                      </a:pPr>
                      <a:r>
                        <a:rPr lang="en-US" altLang="zh-CN"/>
                        <a:t>1600.AWGN.5.png</a:t>
                      </a:r>
                    </a:p>
                  </a:txBody>
                  <a:tcPr anchor="ctr"/>
                </a:tc>
                <a:tc>
                  <a:txBody>
                    <a:bodyPr/>
                    <a:lstStyle/>
                    <a:p>
                      <a:pPr algn="ctr">
                        <a:buNone/>
                      </a:pPr>
                      <a:r>
                        <a:rPr lang="en-US" altLang="zh-CN"/>
                        <a:t>50</a:t>
                      </a:r>
                    </a:p>
                  </a:txBody>
                  <a:tcPr anchor="ctr"/>
                </a:tc>
                <a:tc>
                  <a:txBody>
                    <a:bodyPr/>
                    <a:lstStyle/>
                    <a:p>
                      <a:pPr algn="ctr">
                        <a:buNone/>
                      </a:pPr>
                      <a:r>
                        <a:rPr lang="en-US" altLang="zh-CN"/>
                        <a:t>0.99</a:t>
                      </a:r>
                    </a:p>
                  </a:txBody>
                  <a:tcPr anchor="ctr"/>
                </a:tc>
                <a:extLst>
                  <a:ext uri="{0D108BD9-81ED-4DB2-BD59-A6C34878D82A}">
                    <a16:rowId xmlns:a16="http://schemas.microsoft.com/office/drawing/2014/main" val="10001"/>
                  </a:ext>
                </a:extLst>
              </a:tr>
            </a:tbl>
          </a:graphicData>
        </a:graphic>
      </p:graphicFrame>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BjMjdhMDhkYWIzYjNjOWM5YTE4ZTQzNTAyNjEyMjU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a="http://schemas.openxmlformats.org/drawingml/2006/main" xmlns:r="http://schemas.openxmlformats.org/officeDocument/2006/relationships" xmlns:p="http://schemas.openxmlformats.org/presentationml/2006/main">
  <p:tag name="TABLE_ENDDRAG_ORIGIN_RECT" val="445*83"/>
  <p:tag name="TABLE_ENDDRAG_RECT" val="469*37*445*8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539</Words>
  <Application>Microsoft Office PowerPoint</Application>
  <PresentationFormat>宽屏</PresentationFormat>
  <Paragraphs>53</Paragraphs>
  <Slides>6</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Arial</vt:lpstr>
      <vt:lpstr>Wingdings</vt:lpstr>
      <vt:lpstr>等线</vt:lpstr>
      <vt:lpstr>微软雅黑</vt:lpstr>
      <vt:lpstr>WPS</vt:lpstr>
      <vt:lpstr>常用全参考算法</vt:lpstr>
      <vt:lpstr>常用全参考算法</vt:lpstr>
      <vt:lpstr>常用全参考算法</vt:lpstr>
      <vt:lpstr>常用全参考算法</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BingLi</cp:lastModifiedBy>
  <cp:revision>161</cp:revision>
  <dcterms:created xsi:type="dcterms:W3CDTF">2019-06-19T02:08:00Z</dcterms:created>
  <dcterms:modified xsi:type="dcterms:W3CDTF">2024-10-08T10:17:47Z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2E236BEB5CA44B14B776FD3C00BDF4CC_11</vt:lpwstr>
  </property>
</Properties>
</file>